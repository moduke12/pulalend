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ulalend_primary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640080"/>
            <a:ext cx="5760720" cy="1920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697480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14C9A"/>
                </a:solidFill>
              </a:rPr>
              <a:t>Pitch Deck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548640" y="3246120"/>
            <a:ext cx="11064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785"/>
                </a:solidFill>
              </a:rPr>
              <a:t>Peer-to-Peer Microlending Platform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48640" y="36576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A34A"/>
                </a:solidFill>
              </a:rPr>
              <a:t>Users can register as a borrower or a lender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5852160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85"/>
                </a:solidFill>
              </a:rPr>
              <a:t>Founder: Temogo Boitumelo  |  temogoboitumelo23@gmail.com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12700">
            <a:solidFill>
              <a:srgbClr val="D9E7F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64465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785"/>
                </a:solidFill>
              </a:rPr>
              <a:t>Pulalend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1247120" y="6428232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785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4C9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and Opportunity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5"/>
                </a:solidFill>
              </a:rPr>
              <a:t>Pulalend solves pain points on both sides of the market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2700">
            <a:solidFill>
              <a:srgbClr val="D9E7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7160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5F9FF"/>
          </a:solidFill>
          <a:ln w="12700">
            <a:solidFill>
              <a:srgbClr val="D9E7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459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4C9A"/>
                </a:solidFill>
              </a:rPr>
              <a:t>Borrower pain points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2011680"/>
            <a:ext cx="4663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13F"/>
                </a:solidFill>
              </a:rPr>
              <a:t>Slow approval times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13F"/>
                </a:solidFill>
              </a:rPr>
              <a:t>Collateral barriers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13F"/>
                </a:solidFill>
              </a:rPr>
              <a:t>Costly informal lending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13F"/>
                </a:solidFill>
              </a:rPr>
              <a:t>Limited transparent options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5F9FF"/>
          </a:solidFill>
          <a:ln w="12700">
            <a:solidFill>
              <a:srgbClr val="D9E7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6459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8A34A"/>
                </a:solidFill>
              </a:rPr>
              <a:t>Lender pain points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400800" y="2011680"/>
            <a:ext cx="4663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13F"/>
                </a:solidFill>
              </a:rPr>
              <a:t>Idle capital with limited access to microloan opportunities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13F"/>
                </a:solidFill>
              </a:rPr>
              <a:t>Manual lending is hard to track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13F"/>
                </a:solidFill>
              </a:rPr>
              <a:t>Small lenders need visibility and structure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13F"/>
                </a:solidFill>
              </a:rPr>
              <a:t>Trust and compliance matter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589788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8C28"/>
                </a:solidFill>
              </a:rPr>
              <a:t>Opportunity: create a simple, trusted marketplace where borrowers access funding and lenders earn returns.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12700">
            <a:solidFill>
              <a:srgbClr val="D9E7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64465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785"/>
                </a:solidFill>
              </a:rPr>
              <a:t>Pulalend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1247120" y="6428232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785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4C9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5"/>
                </a:solidFill>
              </a:rPr>
              <a:t>A simple two-sided lending platform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2700">
            <a:solidFill>
              <a:srgbClr val="D9E7F5"/>
            </a:solidFill>
            <a:prstDash val="solid"/>
          </a:ln>
        </p:spPr>
      </p:sp>
      <p:pic>
        <p:nvPicPr>
          <p:cNvPr id="5" name="Image 0" descr="/mnt/data/Pulalend_app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10048"/>
            <a:ext cx="1645920" cy="14604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86000" y="14630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4C9A"/>
                </a:solidFill>
              </a:rPr>
              <a:t>Borrower journey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2286000" y="1828800"/>
            <a:ext cx="35661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13F"/>
                </a:solidFill>
              </a:rPr>
              <a:t>Register as borrower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13F"/>
                </a:solidFill>
              </a:rPr>
              <a:t>Complete KYC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13F"/>
                </a:solidFill>
              </a:rPr>
              <a:t>Request loan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13F"/>
                </a:solidFill>
              </a:rPr>
              <a:t>Track repayment status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0" y="14630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A34A"/>
                </a:solidFill>
              </a:rPr>
              <a:t>Lender journey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00800" y="1828800"/>
            <a:ext cx="4206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13F"/>
                </a:solidFill>
              </a:rPr>
              <a:t>Register as lender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13F"/>
                </a:solidFill>
              </a:rPr>
              <a:t>Complete KYC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13F"/>
                </a:solidFill>
              </a:rPr>
              <a:t>Review opportunities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13F"/>
                </a:solidFill>
              </a:rPr>
              <a:t>Fund loans and monitor returns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22960" y="4389120"/>
            <a:ext cx="10607040" cy="960120"/>
          </a:xfrm>
          <a:prstGeom prst="roundRect">
            <a:avLst>
              <a:gd name="adj" fmla="val 5714"/>
            </a:avLst>
          </a:prstGeom>
          <a:solidFill>
            <a:srgbClr val="114C9A"/>
          </a:solidFill>
          <a:ln w="12700">
            <a:solidFill>
              <a:srgbClr val="114C9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4645152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Pulalend is designed to feel clear and welcoming, so users who are not highly technical can still understand the product and trust the process.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12700">
            <a:solidFill>
              <a:srgbClr val="D9E7F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64465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785"/>
                </a:solidFill>
              </a:rPr>
              <a:t>Pulalend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1247120" y="6428232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785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4C9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Lenders Join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5"/>
                </a:solidFill>
              </a:rPr>
              <a:t>The lender proposition is a core growth engine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2700">
            <a:solidFill>
              <a:srgbClr val="D9E7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4572000" cy="1645920"/>
          </a:xfrm>
          <a:prstGeom prst="roundRect">
            <a:avLst>
              <a:gd name="adj" fmla="val 4444"/>
            </a:avLst>
          </a:prstGeom>
          <a:solidFill>
            <a:srgbClr val="F5F9FF"/>
          </a:solidFill>
          <a:ln w="12700">
            <a:solidFill>
              <a:srgbClr val="D9E7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66420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4C9A"/>
                </a:solidFill>
              </a:rPr>
              <a:t>Earn returns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32688" y="2029968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13F"/>
                </a:solidFill>
              </a:rPr>
              <a:t>Lenders earn from approved microloan activity.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26480" y="1463040"/>
            <a:ext cx="4572000" cy="1645920"/>
          </a:xfrm>
          <a:prstGeom prst="roundRect">
            <a:avLst>
              <a:gd name="adj" fmla="val 4444"/>
            </a:avLst>
          </a:prstGeom>
          <a:solidFill>
            <a:srgbClr val="F5F9FF"/>
          </a:solidFill>
          <a:ln w="12700">
            <a:solidFill>
              <a:srgbClr val="D9E7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27648" y="166420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A34A"/>
                </a:solidFill>
              </a:rPr>
              <a:t>Diversify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327648" y="2029968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13F"/>
                </a:solidFill>
              </a:rPr>
              <a:t>Funds can be spread across multiple smaller loans.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749040"/>
            <a:ext cx="4572000" cy="1645920"/>
          </a:xfrm>
          <a:prstGeom prst="roundRect">
            <a:avLst>
              <a:gd name="adj" fmla="val 4444"/>
            </a:avLst>
          </a:prstGeom>
          <a:solidFill>
            <a:srgbClr val="F5F9FF"/>
          </a:solidFill>
          <a:ln w="12700">
            <a:solidFill>
              <a:srgbClr val="D9E7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95020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4C9A"/>
                </a:solidFill>
              </a:rPr>
              <a:t>Visibility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32688" y="4315968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13F"/>
                </a:solidFill>
              </a:rPr>
              <a:t>Track repayments and portfolio activity in one dashboard.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3749040"/>
            <a:ext cx="4572000" cy="1645920"/>
          </a:xfrm>
          <a:prstGeom prst="roundRect">
            <a:avLst>
              <a:gd name="adj" fmla="val 4444"/>
            </a:avLst>
          </a:prstGeom>
          <a:solidFill>
            <a:srgbClr val="F5F9FF"/>
          </a:solidFill>
          <a:ln w="12700">
            <a:solidFill>
              <a:srgbClr val="D9E7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27648" y="395020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A34A"/>
                </a:solidFill>
              </a:rPr>
              <a:t>Convenience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327648" y="4315968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13F"/>
                </a:solidFill>
              </a:rPr>
              <a:t>Digital records reduce manual follow-up and paperwork.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12700">
            <a:solidFill>
              <a:srgbClr val="D9E7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4465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785"/>
                </a:solidFill>
              </a:rPr>
              <a:t>Pulalend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247120" y="6428232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785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4C9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Model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5"/>
                </a:solidFill>
              </a:rPr>
              <a:t>Initial planning assumptions and revenue logic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2700">
            <a:solidFill>
              <a:srgbClr val="D9E7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63040"/>
            <a:ext cx="3474720" cy="2743200"/>
          </a:xfrm>
          <a:prstGeom prst="roundRect">
            <a:avLst>
              <a:gd name="adj" fmla="val 2667"/>
            </a:avLst>
          </a:prstGeom>
          <a:solidFill>
            <a:srgbClr val="F5F9FF"/>
          </a:solidFill>
          <a:ln w="12700">
            <a:solidFill>
              <a:srgbClr val="D9E7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7373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4C9A"/>
                </a:solidFill>
              </a:rPr>
              <a:t>Core revenue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084832"/>
            <a:ext cx="29260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13F"/>
                </a:solidFill>
              </a:rPr>
              <a:t>Loan processing fees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13F"/>
                </a:solidFill>
              </a:rPr>
              <a:t>Platform service fees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13F"/>
                </a:solidFill>
              </a:rPr>
              <a:t>Premium tools over time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26280" y="1463040"/>
            <a:ext cx="2926080" cy="2743200"/>
          </a:xfrm>
          <a:prstGeom prst="roundRect">
            <a:avLst>
              <a:gd name="adj" fmla="val 2667"/>
            </a:avLst>
          </a:prstGeom>
          <a:solidFill>
            <a:srgbClr val="F5F9FF"/>
          </a:solidFill>
          <a:ln w="12700">
            <a:solidFill>
              <a:srgbClr val="D9E7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7373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A34A"/>
                </a:solidFill>
              </a:rPr>
              <a:t>Planning volume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754880" y="2240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14C9A"/>
                </a:solidFill>
              </a:rPr>
              <a:t>P100,000 / month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4754880" y="2697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85"/>
                </a:solidFill>
              </a:rPr>
              <a:t>Illustrative loan volume assumption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680960" y="1463040"/>
            <a:ext cx="3749040" cy="2743200"/>
          </a:xfrm>
          <a:prstGeom prst="roundRect">
            <a:avLst>
              <a:gd name="adj" fmla="val 2667"/>
            </a:avLst>
          </a:prstGeom>
          <a:solidFill>
            <a:srgbClr val="F5F9FF"/>
          </a:solidFill>
          <a:ln w="12700">
            <a:solidFill>
              <a:srgbClr val="D9E7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09560" y="17373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8C28"/>
                </a:solidFill>
              </a:rPr>
              <a:t>Illustrative annual fee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909560" y="2240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14C9A"/>
                </a:solidFill>
              </a:rPr>
              <a:t>P60,000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7909560" y="2697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85"/>
                </a:solidFill>
              </a:rPr>
              <a:t>Based on a 5% platform fee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493776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A34A"/>
                </a:solidFill>
              </a:rPr>
              <a:t>Long-term value comes from growing both sides of the marketplace: repeat borrowers and repeat lenders.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12700">
            <a:solidFill>
              <a:srgbClr val="D9E7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4465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785"/>
                </a:solidFill>
              </a:rPr>
              <a:t>Pulalend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247120" y="6428232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785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4C9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Brand and User Experience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5"/>
                </a:solidFill>
              </a:rPr>
              <a:t>Simple enough for everyday users, strong enough for growth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2700">
            <a:solidFill>
              <a:srgbClr val="D9E7F5"/>
            </a:solidFill>
            <a:prstDash val="solid"/>
          </a:ln>
        </p:spPr>
      </p:sp>
      <p:pic>
        <p:nvPicPr>
          <p:cNvPr id="5" name="Image 0" descr="/mnt/data/Pulalend_primary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508760"/>
            <a:ext cx="5212080" cy="1737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0" y="1737360"/>
            <a:ext cx="457200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13F"/>
                </a:solidFill>
              </a:rPr>
              <a:t>Friendly visual identity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13F"/>
                </a:solidFill>
              </a:rPr>
              <a:t>Clear borrower vs lender messaging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13F"/>
                </a:solidFill>
              </a:rPr>
              <a:t>Minimal jargon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13F"/>
                </a:solidFill>
              </a:rPr>
              <a:t>Readable screens and documents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13F"/>
                </a:solidFill>
              </a:rPr>
              <a:t>Trust-first positioning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914400" y="4160520"/>
            <a:ext cx="10424160" cy="1097280"/>
          </a:xfrm>
          <a:prstGeom prst="roundRect">
            <a:avLst>
              <a:gd name="adj" fmla="val 4167"/>
            </a:avLst>
          </a:prstGeom>
          <a:solidFill>
            <a:srgbClr val="F5F9FF"/>
          </a:solidFill>
          <a:ln w="12700">
            <a:solidFill>
              <a:srgbClr val="D9E7F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88720" y="4462272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14C9A"/>
                </a:solidFill>
              </a:rPr>
              <a:t>Key message: “Register as a borrower or register as a lender.”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12700">
            <a:solidFill>
              <a:srgbClr val="D9E7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64465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785"/>
                </a:solidFill>
              </a:rPr>
              <a:t>Pulalend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247120" y="6428232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785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4C9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5"/>
                </a:solidFill>
              </a:rPr>
              <a:t>Launch the first version, validate trust, and grow both sides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078992"/>
            <a:ext cx="11064240" cy="0"/>
          </a:xfrm>
          <a:prstGeom prst="line">
            <a:avLst/>
          </a:prstGeom>
          <a:noFill/>
          <a:ln w="12700">
            <a:solidFill>
              <a:srgbClr val="D9E7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54480"/>
            <a:ext cx="73152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13F"/>
                </a:solidFill>
              </a:rPr>
              <a:t>Complete MVP build and compliance preparation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13F"/>
                </a:solidFill>
              </a:rPr>
              <a:t>Pilot with a small controlled borrower and lender base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13F"/>
                </a:solidFill>
              </a:rPr>
              <a:t>Refine onboarding, repayments, and portfolio tracking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13F"/>
                </a:solidFill>
              </a:rPr>
              <a:t>Grow through referrals, education, and partnerships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138160" y="1600200"/>
            <a:ext cx="2743200" cy="2651760"/>
          </a:xfrm>
          <a:prstGeom prst="roundRect">
            <a:avLst>
              <a:gd name="adj" fmla="val 2759"/>
            </a:avLst>
          </a:prstGeom>
          <a:solidFill>
            <a:srgbClr val="F5F9FF"/>
          </a:solidFill>
          <a:ln w="12700">
            <a:solidFill>
              <a:srgbClr val="D9E7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58200" y="19202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4C9A"/>
                </a:solidFill>
              </a:rPr>
              <a:t>Pulalend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412480" y="246888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4313F"/>
                </a:solidFill>
              </a:rPr>
              <a:t>Borrowers get access to funding.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4313F"/>
                </a:solidFill>
              </a:rPr>
              <a:t>Lenders get a path to earn returns.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183880" y="5120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785"/>
                </a:solidFill>
              </a:rPr>
              <a:t>Temogo Boitumelo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785"/>
                </a:solidFill>
              </a:rPr>
              <a:t>temogoboitumelo23@gmail.com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12700">
            <a:solidFill>
              <a:srgbClr val="D9E7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64465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785"/>
                </a:solidFill>
              </a:rPr>
              <a:t>Pulalend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247120" y="6428232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785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Pulalend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Pulalend Pitch Deck</dc:title>
  <dc:subject>Pulalend pitch deck</dc:subject>
  <dc:creator>OpenAI</dc:creator>
  <cp:lastModifiedBy>OpenAI</cp:lastModifiedBy>
  <cp:revision>1</cp:revision>
  <dcterms:created xsi:type="dcterms:W3CDTF">2026-03-17T15:29:39Z</dcterms:created>
  <dcterms:modified xsi:type="dcterms:W3CDTF">2026-03-17T15:29:39Z</dcterms:modified>
</cp:coreProperties>
</file>